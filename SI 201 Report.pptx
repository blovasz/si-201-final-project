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55EB7FB-E9EC-4AFA-9802-CB41946234A7}">
  <a:tblStyle styleId="{855EB7FB-E9EC-4AFA-9802-CB41946234A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a3c422c6df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a3c422c6df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a3c422c6df_1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a3c422c6df_1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Stanford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a3c422c6df_1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a3c422c6df_1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Blake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a3c422c6df_1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a3c422c6df_1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Blake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a3c422c6df_1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a3c422c6df_1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Blake &amp; Stan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a3c422c6df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a3c422c6df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a6d11efe5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a6d11efe5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a3c422c6df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a3c422c6df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Blake &amp; Stan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a3c422c6df_1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a3c422c6df_1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a3c422c6df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a3c422c6df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acbec8e756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acbec8e756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a3c422c6df_1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a3c422c6df_1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Stanford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a3c422c6df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a3c422c6df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Blake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a3c422c6df_1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a3c422c6df_1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Stanford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Marvel Rivals API Discord (Blake)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hyperlink" Target="https://github.com/blovasz/si-201-final-project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superheroapi.com/try-now.html" TargetMode="External"/><Relationship Id="rId4" Type="http://schemas.openxmlformats.org/officeDocument/2006/relationships/hyperlink" Target="https://comicvine.gamespot.com/api/documentation" TargetMode="External"/><Relationship Id="rId5" Type="http://schemas.openxmlformats.org/officeDocument/2006/relationships/hyperlink" Target="https://marvelrivalsapi.com/" TargetMode="External"/><Relationship Id="rId6" Type="http://schemas.openxmlformats.org/officeDocument/2006/relationships/hyperlink" Target="https://github.com/DiljotSG/MCU-Countdown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superheroapi.com/try-now.html" TargetMode="External"/><Relationship Id="rId4" Type="http://schemas.openxmlformats.org/officeDocument/2006/relationships/hyperlink" Target="https://comicvine.gamespot.com/api/documentation" TargetMode="External"/><Relationship Id="rId5" Type="http://schemas.openxmlformats.org/officeDocument/2006/relationships/hyperlink" Target="https://marvelrivalsapi.com/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9.png"/><Relationship Id="rId5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discord.com/invite/marvelrivalsapi" TargetMode="External"/><Relationship Id="rId4" Type="http://schemas.openxmlformats.org/officeDocument/2006/relationships/hyperlink" Target="https://prismic.io/blog/api-response-times" TargetMode="External"/><Relationship Id="rId5" Type="http://schemas.openxmlformats.org/officeDocument/2006/relationships/hyperlink" Target="https://matplotlib.org/stable/api/matplotlib_configuration_api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Report on Marvel APIs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Stan Leevasz</a:t>
            </a:r>
            <a:endParaRPr/>
          </a:p>
        </p:txBody>
      </p:sp>
      <p:pic>
        <p:nvPicPr>
          <p:cNvPr id="56" name="Google Shape;56;p13" title="download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33738" y="3342850"/>
            <a:ext cx="2676525" cy="1714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147675" y="180475"/>
            <a:ext cx="4725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Repo Link: </a:t>
            </a:r>
            <a:r>
              <a:rPr lang="en" sz="1800" u="sng">
                <a:solidFill>
                  <a:schemeClr val="hlink"/>
                </a:solidFill>
                <a:hlinkClick r:id="rId4"/>
              </a:rPr>
              <a:t>CLICK HERE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050" y="152400"/>
            <a:ext cx="8575907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Planned: Project Goal, APIs Used, &amp; Data Gathered</a:t>
            </a:r>
            <a:endParaRPr/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152475"/>
            <a:ext cx="8520600" cy="39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The project’s goal is to investigate the representation of different identities in superhero media.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APIs Used: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Superhero API: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https://superheroapi.com/try-now.html</a:t>
            </a:r>
            <a:r>
              <a:rPr lang="en"/>
              <a:t>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Comic Vine API: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https://comicvine.gamespot.com/api/documentation</a:t>
            </a:r>
            <a:r>
              <a:rPr lang="en"/>
              <a:t>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Marvel Rivals API: </a:t>
            </a:r>
            <a:r>
              <a:rPr lang="en" u="sng">
                <a:solidFill>
                  <a:schemeClr val="hlink"/>
                </a:solidFill>
                <a:hlinkClick r:id="rId5"/>
              </a:rPr>
              <a:t>https://marvelrivalsapi.com/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MCU Countdown: </a:t>
            </a:r>
            <a:r>
              <a:rPr lang="en" u="sng">
                <a:solidFill>
                  <a:schemeClr val="hlink"/>
                </a:solidFill>
                <a:hlinkClick r:id="rId6"/>
              </a:rPr>
              <a:t>https://github.com/DiljotSG/MCU-Countdown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Gathered Data: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Height &amp; weight of superheroes, gender of superheroes, birthplace of superheroes, movies &amp; comics appearances of superheroes.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Seeing representation in: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BMI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Gender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Birthplace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Comics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Movies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Games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Achieved</a:t>
            </a:r>
            <a:r>
              <a:rPr lang="en"/>
              <a:t>: Project Goal, APIs Used, &amp; Data Gathered</a:t>
            </a:r>
            <a:endParaRPr/>
          </a:p>
        </p:txBody>
      </p:sp>
      <p:sp>
        <p:nvSpPr>
          <p:cNvPr id="74" name="Google Shape;74;p16"/>
          <p:cNvSpPr txBox="1"/>
          <p:nvPr>
            <p:ph idx="1" type="body"/>
          </p:nvPr>
        </p:nvSpPr>
        <p:spPr>
          <a:xfrm>
            <a:off x="311700" y="1152475"/>
            <a:ext cx="8520600" cy="39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The project’s goal is to investigate the representation of different identities in superhero media.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APIs Used: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Superhero API: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https://superheroapi.com/try-now.html</a:t>
            </a:r>
            <a:r>
              <a:rPr lang="en"/>
              <a:t>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Comic Vine API: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https://comicvine.gamespot.com/api/documentation</a:t>
            </a:r>
            <a:r>
              <a:rPr lang="en"/>
              <a:t>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Marvel Rivals API: </a:t>
            </a:r>
            <a:r>
              <a:rPr lang="en" u="sng">
                <a:solidFill>
                  <a:schemeClr val="hlink"/>
                </a:solidFill>
                <a:hlinkClick r:id="rId5"/>
              </a:rPr>
              <a:t>https://marvelrivalsapi.com/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Gathered Data: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Height &amp; weight of superheroes, gender of superheroes, birthplace of superheroes, &amp; comics appearances of superheroes.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Seeing representation in: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BMI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Gender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Birthplace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Comics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Games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Problems Faced</a:t>
            </a:r>
            <a:endParaRPr/>
          </a:p>
        </p:txBody>
      </p:sp>
      <p:sp>
        <p:nvSpPr>
          <p:cNvPr id="80" name="Google Shape;80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Had to transition from using MCU Countdown to Marvel Rivals API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 MCU Countdown only gave us data for the upcoming movie, not previous Marvel films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No movie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Comic Vine’s documents weren’t up to date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we couldn’t find how many movies certain heroes were featured in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Moved to number of comics heroes were in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429 Errors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➢"/>
            </a:pPr>
            <a:r>
              <a:rPr lang="en"/>
              <a:t>Largely </a:t>
            </a:r>
            <a:r>
              <a:rPr lang="en"/>
              <a:t>occurred</a:t>
            </a:r>
            <a:r>
              <a:rPr lang="en"/>
              <a:t> when problem solving data issues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❖"/>
            </a:pPr>
            <a:r>
              <a:rPr lang="en"/>
              <a:t>Excluding non-Marvel heroes from lists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title"/>
          </p:nvPr>
        </p:nvSpPr>
        <p:spPr>
          <a:xfrm>
            <a:off x="3847375" y="307525"/>
            <a:ext cx="4984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Calculations from Data in Database - Blake</a:t>
            </a:r>
            <a:endParaRPr/>
          </a:p>
        </p:txBody>
      </p:sp>
      <p:pic>
        <p:nvPicPr>
          <p:cNvPr id="86" name="Google Shape;86;p18" title="Screenshot 2025-12-07 at 2.04.02 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86750" y="1189500"/>
            <a:ext cx="3706051" cy="3871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8" title="Screenshot 2025-12-07 at 2.03.54 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9000" y="3740725"/>
            <a:ext cx="3076075" cy="140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8" title="Screenshot 2025-12-07 at 2.03.40 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09000" y="0"/>
            <a:ext cx="3076074" cy="37407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9"/>
          <p:cNvSpPr txBox="1"/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Calculations from Data in Database - Stan</a:t>
            </a:r>
            <a:endParaRPr/>
          </a:p>
        </p:txBody>
      </p:sp>
      <p:pic>
        <p:nvPicPr>
          <p:cNvPr id="94" name="Google Shape;9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630938"/>
            <a:ext cx="4968276" cy="3881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60850" y="630938"/>
            <a:ext cx="4083149" cy="31272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>
            <p:ph type="title"/>
          </p:nvPr>
        </p:nvSpPr>
        <p:spPr>
          <a:xfrm>
            <a:off x="82000" y="2645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Calculations Cont.</a:t>
            </a:r>
            <a:endParaRPr/>
          </a:p>
        </p:txBody>
      </p:sp>
      <p:pic>
        <p:nvPicPr>
          <p:cNvPr id="101" name="Google Shape;101;p20" title="Screenshot 2025-12-12 at 12.53.11 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52425" y="0"/>
            <a:ext cx="6191575" cy="1401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20" title="Screenshot 2025-12-12 at 12.53.23 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2737175"/>
            <a:ext cx="3159225" cy="14925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0" title="Screenshot 2025-12-12 at 12.53.28 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1393642"/>
            <a:ext cx="3159225" cy="12523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Screenshot 2025-12-12 at 12.53.33 PM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047550" y="1401325"/>
            <a:ext cx="6096449" cy="294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Visualizations Created</a:t>
            </a:r>
            <a:endParaRPr/>
          </a:p>
        </p:txBody>
      </p:sp>
      <p:pic>
        <p:nvPicPr>
          <p:cNvPr id="110" name="Google Shape;110;p21" title="the_piechar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8150" y="1017725"/>
            <a:ext cx="7067699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22" title="the_barchar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46200" y="152400"/>
            <a:ext cx="6451600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23" title="Heroes_Being_Played_by_Gender_in_Marvel_Rival_Match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0" cy="441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27" name="Google Shape;127;p24" title="Heroes_by_Gender_in_Marvel_Comic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85750"/>
            <a:ext cx="9144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Running the Code</a:t>
            </a:r>
            <a:endParaRPr/>
          </a:p>
        </p:txBody>
      </p:sp>
      <p:sp>
        <p:nvSpPr>
          <p:cNvPr id="133" name="Google Shape;133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1. Create an API key from https://superheroapi.com/, https://comicvine.gamespot.com/api/, and https://marvelrivalsapi.com/.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2. Insert each API key into the “replace text with key” on each corresponding line in the api_keys.txt file.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3. Run the superhero.py file 4 times first to create and populate the main database: superhero.db.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4. Run the marvel_rivals.py 4 times to create and populate its tables to the superhero.db database.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5. Run the comicvine.py file 9 times (or until "Finished searching for data!" prints) to create and populate its tables to the superhero.db database.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6. Run the calculations.py file to perform calculations using data from the superhero.db database to create the data calculations files: gender_by_comics.csv, most_played_characters.csv, num_superhero_by_origin.txt, and average_bmi_by_gender.txt.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5. Run the bl-visuals.py and sj-visuals.py files to create the visualizations from calculated data.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6"/>
          <p:cNvSpPr txBox="1"/>
          <p:nvPr>
            <p:ph type="title"/>
          </p:nvPr>
        </p:nvSpPr>
        <p:spPr>
          <a:xfrm>
            <a:off x="311700" y="1005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 Diagram</a:t>
            </a:r>
            <a:endParaRPr/>
          </a:p>
        </p:txBody>
      </p:sp>
      <p:pic>
        <p:nvPicPr>
          <p:cNvPr id="139" name="Google Shape;139;p26" title="SI 201 Final Function Diagram 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0375" y="592100"/>
            <a:ext cx="6983251" cy="4364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Resources Used</a:t>
            </a:r>
            <a:endParaRPr/>
          </a:p>
        </p:txBody>
      </p:sp>
      <p:graphicFrame>
        <p:nvGraphicFramePr>
          <p:cNvPr id="145" name="Google Shape;145;p27"/>
          <p:cNvGraphicFramePr/>
          <p:nvPr/>
        </p:nvGraphicFramePr>
        <p:xfrm>
          <a:off x="952500" y="111587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{855EB7FB-E9EC-4AFA-9802-CB41946234A7}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Date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Issue Description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Location of Resource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Result (did it solve the issue?)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11/18/2025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Difficulty in getting access to Marvel Rivals API key.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u="sng">
                          <a:solidFill>
                            <a:schemeClr val="hlink"/>
                          </a:solidFill>
                          <a:hlinkClick r:id="rId3"/>
                        </a:rPr>
                        <a:t>https://discord.com/invite/marvelrivalsapi</a:t>
                      </a:r>
                      <a:r>
                        <a:rPr lang="en"/>
                        <a:t>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Yes, the issue was solved.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11/24/2025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Long runtime in creating a database for Superhero API.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u="sng">
                          <a:solidFill>
                            <a:schemeClr val="hlink"/>
                          </a:solidFill>
                          <a:hlinkClick r:id="rId4"/>
                        </a:rPr>
                        <a:t>https://prismic.io/blog/api-response-times</a:t>
                      </a:r>
                      <a:r>
                        <a:rPr lang="en"/>
                        <a:t>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Yes, the issue was solved.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12/1/2025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References for colors and text for matplotlib for customization of the charts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u="sng">
                          <a:solidFill>
                            <a:schemeClr val="hlink"/>
                          </a:solidFill>
                          <a:hlinkClick r:id="rId5"/>
                        </a:rPr>
                        <a:t>https://matplotlib.org/stable/api/matplotlib_configuration_api.html</a:t>
                      </a:r>
                      <a:r>
                        <a:rPr lang="en"/>
                        <a:t> 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Yes, the issue was solved.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